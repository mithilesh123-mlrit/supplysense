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Garamond Bold" panose="02020804030307010803" pitchFamily="18" charset="0"/>
      <p:regular r:id="rId11"/>
      <p:bold r:id="rId12"/>
    </p:embeddedFont>
    <p:embeddedFont>
      <p:font typeface="Times New Roman Bold" panose="02020803070505020304" pitchFamily="18" charset="0"/>
      <p:regular r:id="rId13"/>
      <p:bold r:id="rId14"/>
    </p:embeddedFont>
    <p:embeddedFont>
      <p:font typeface="Times New Roman MT" panose="020B0604020202020204" charset="0"/>
      <p:regular r:id="rId15"/>
    </p:embeddedFont>
    <p:embeddedFont>
      <p:font typeface="Times New Roman M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6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promfg.2020.01.034" TargetMode="External"/><Relationship Id="rId4" Type="http://schemas.openxmlformats.org/officeDocument/2006/relationships/hyperlink" Target="https://www.tandfonline.com/doi/full/10.1080/13675567.2020.18032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4682175" y="1917569"/>
            <a:ext cx="6964947" cy="7378234"/>
          </a:xfrm>
          <a:custGeom>
            <a:avLst/>
            <a:gdLst/>
            <a:ahLst/>
            <a:cxnLst/>
            <a:rect l="l" t="t" r="r" b="b"/>
            <a:pathLst>
              <a:path w="6964947" h="7378234">
                <a:moveTo>
                  <a:pt x="6964947" y="0"/>
                </a:moveTo>
                <a:lnTo>
                  <a:pt x="0" y="0"/>
                </a:lnTo>
                <a:lnTo>
                  <a:pt x="0" y="7378235"/>
                </a:lnTo>
                <a:lnTo>
                  <a:pt x="6964947" y="7378235"/>
                </a:lnTo>
                <a:lnTo>
                  <a:pt x="69649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994" b="-100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1944" y="1917569"/>
            <a:ext cx="6964947" cy="7378234"/>
          </a:xfrm>
          <a:custGeom>
            <a:avLst/>
            <a:gdLst/>
            <a:ahLst/>
            <a:cxnLst/>
            <a:rect l="l" t="t" r="r" b="b"/>
            <a:pathLst>
              <a:path w="6964947" h="7378234">
                <a:moveTo>
                  <a:pt x="0" y="0"/>
                </a:moveTo>
                <a:lnTo>
                  <a:pt x="6964947" y="0"/>
                </a:lnTo>
                <a:lnTo>
                  <a:pt x="6964947" y="7378235"/>
                </a:lnTo>
                <a:lnTo>
                  <a:pt x="0" y="737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994" b="-100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01393" y="1028700"/>
            <a:ext cx="6957907" cy="7732451"/>
          </a:xfrm>
          <a:custGeom>
            <a:avLst/>
            <a:gdLst/>
            <a:ahLst/>
            <a:cxnLst/>
            <a:rect l="l" t="t" r="r" b="b"/>
            <a:pathLst>
              <a:path w="6957907" h="7732451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174113" y="2573822"/>
            <a:ext cx="4805264" cy="5139356"/>
            <a:chOff x="0" y="0"/>
            <a:chExt cx="6407018" cy="68524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49475" b="-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96929" y="-790136"/>
            <a:ext cx="15544800" cy="3114675"/>
            <a:chOff x="0" y="0"/>
            <a:chExt cx="20726400" cy="4152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42925" y="1538285"/>
            <a:ext cx="10399447" cy="724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endParaRPr dirty="0"/>
          </a:p>
          <a:p>
            <a:pPr marL="610687" lvl="1" indent="-305344" algn="just">
              <a:lnSpc>
                <a:spcPts val="8098"/>
              </a:lnSpc>
              <a:buFont typeface="Arial"/>
              <a:buChar char="•"/>
            </a:pPr>
            <a:r>
              <a:rPr lang="en-US" sz="337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</a:t>
            </a:r>
            <a:r>
              <a:rPr lang="en-US" sz="337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25193</a:t>
            </a:r>
          </a:p>
          <a:p>
            <a:pPr marL="543612" lvl="1" indent="-271806" algn="just">
              <a:lnSpc>
                <a:spcPts val="5106"/>
              </a:lnSpc>
              <a:buFont typeface="Arial"/>
              <a:buChar char="•"/>
            </a:pPr>
            <a:r>
              <a:rPr lang="en-US" sz="300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  <a:r>
              <a:rPr lang="en-US" sz="300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Forecasting materials demand with machine learning for supply chain planning, procurement, and inventory optimization.</a:t>
            </a:r>
          </a:p>
          <a:p>
            <a:pPr marL="576265" lvl="1" indent="-288132" algn="just">
              <a:lnSpc>
                <a:spcPts val="7642"/>
              </a:lnSpc>
              <a:buFont typeface="Arial"/>
              <a:buChar char="•"/>
            </a:pPr>
            <a:r>
              <a:rPr lang="en-US" sz="318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Theme-</a:t>
            </a:r>
            <a:r>
              <a:rPr lang="en-US" sz="318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Automation</a:t>
            </a:r>
          </a:p>
          <a:p>
            <a:pPr marL="610259" lvl="1" indent="-305129" algn="just">
              <a:lnSpc>
                <a:spcPts val="8098"/>
              </a:lnSpc>
              <a:buFont typeface="Arial"/>
              <a:buChar char="•"/>
            </a:pPr>
            <a:r>
              <a:rPr lang="en-US" sz="337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337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marL="610259" lvl="1" indent="-305129" algn="just">
              <a:lnSpc>
                <a:spcPts val="8098"/>
              </a:lnSpc>
              <a:buFont typeface="Arial"/>
              <a:buChar char="•"/>
            </a:pPr>
            <a:r>
              <a:rPr lang="en-US" sz="337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  </a:t>
            </a:r>
            <a:r>
              <a:rPr lang="en-US" sz="337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84247</a:t>
            </a:r>
          </a:p>
          <a:p>
            <a:pPr marL="610687" lvl="1" indent="-305344" algn="just">
              <a:lnSpc>
                <a:spcPts val="8098"/>
              </a:lnSpc>
              <a:buFont typeface="Arial"/>
              <a:buChar char="•"/>
            </a:pPr>
            <a:r>
              <a:rPr lang="en-US" sz="337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337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Xanthic</a:t>
            </a:r>
            <a:r>
              <a:rPr lang="en-US" sz="337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4762049" y="9446"/>
            <a:ext cx="3313680" cy="1684302"/>
            <a:chOff x="0" y="0"/>
            <a:chExt cx="4418240" cy="2245736"/>
          </a:xfrm>
        </p:grpSpPr>
        <p:sp>
          <p:nvSpPr>
            <p:cNvPr id="12" name="Freeform 12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6913088" y="4461441"/>
            <a:ext cx="4461825" cy="4461825"/>
          </a:xfrm>
          <a:custGeom>
            <a:avLst/>
            <a:gdLst/>
            <a:ahLst/>
            <a:cxnLst/>
            <a:rect l="l" t="t" r="r" b="b"/>
            <a:pathLst>
              <a:path w="4461825" h="4461825">
                <a:moveTo>
                  <a:pt x="0" y="0"/>
                </a:moveTo>
                <a:lnTo>
                  <a:pt x="4461824" y="0"/>
                </a:lnTo>
                <a:lnTo>
                  <a:pt x="4461824" y="4461825"/>
                </a:lnTo>
                <a:lnTo>
                  <a:pt x="0" y="4461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40687" y="-111337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SupplySense</a:t>
              </a:r>
              <a:r>
                <a:rPr lang="en-US" sz="5400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2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2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66086" y="359319"/>
            <a:ext cx="1915886" cy="1249101"/>
            <a:chOff x="0" y="0"/>
            <a:chExt cx="2554514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XANTHIC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762051" y="85646"/>
            <a:ext cx="3313680" cy="1684302"/>
            <a:chOff x="0" y="0"/>
            <a:chExt cx="4418240" cy="2245736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9" name="AutoShape 19"/>
          <p:cNvSpPr/>
          <p:nvPr/>
        </p:nvSpPr>
        <p:spPr>
          <a:xfrm flipV="1">
            <a:off x="5540055" y="2551228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V="1">
            <a:off x="12155973" y="2551228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6253776" y="114045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 rot="5400000">
            <a:off x="2159303" y="2877857"/>
            <a:ext cx="731298" cy="971825"/>
          </a:xfrm>
          <a:custGeom>
            <a:avLst/>
            <a:gdLst/>
            <a:ahLst/>
            <a:cxnLst/>
            <a:rect l="l" t="t" r="r" b="b"/>
            <a:pathLst>
              <a:path w="731298" h="971825">
                <a:moveTo>
                  <a:pt x="0" y="0"/>
                </a:moveTo>
                <a:lnTo>
                  <a:pt x="731298" y="0"/>
                </a:lnTo>
                <a:lnTo>
                  <a:pt x="731298" y="971825"/>
                </a:lnTo>
                <a:lnTo>
                  <a:pt x="0" y="97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5400000">
            <a:off x="3868815" y="2883032"/>
            <a:ext cx="731298" cy="971825"/>
          </a:xfrm>
          <a:custGeom>
            <a:avLst/>
            <a:gdLst/>
            <a:ahLst/>
            <a:cxnLst/>
            <a:rect l="l" t="t" r="r" b="b"/>
            <a:pathLst>
              <a:path w="731298" h="971825">
                <a:moveTo>
                  <a:pt x="0" y="0"/>
                </a:moveTo>
                <a:lnTo>
                  <a:pt x="731298" y="0"/>
                </a:lnTo>
                <a:lnTo>
                  <a:pt x="731298" y="971825"/>
                </a:lnTo>
                <a:lnTo>
                  <a:pt x="0" y="97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5400000">
            <a:off x="3911417" y="8319724"/>
            <a:ext cx="724718" cy="963080"/>
          </a:xfrm>
          <a:custGeom>
            <a:avLst/>
            <a:gdLst/>
            <a:ahLst/>
            <a:cxnLst/>
            <a:rect l="l" t="t" r="r" b="b"/>
            <a:pathLst>
              <a:path w="724718" h="963080">
                <a:moveTo>
                  <a:pt x="0" y="0"/>
                </a:moveTo>
                <a:lnTo>
                  <a:pt x="724718" y="0"/>
                </a:lnTo>
                <a:lnTo>
                  <a:pt x="724718" y="963080"/>
                </a:lnTo>
                <a:lnTo>
                  <a:pt x="0" y="96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5400000">
            <a:off x="2258825" y="8319724"/>
            <a:ext cx="724718" cy="963080"/>
          </a:xfrm>
          <a:custGeom>
            <a:avLst/>
            <a:gdLst/>
            <a:ahLst/>
            <a:cxnLst/>
            <a:rect l="l" t="t" r="r" b="b"/>
            <a:pathLst>
              <a:path w="724718" h="963080">
                <a:moveTo>
                  <a:pt x="0" y="0"/>
                </a:moveTo>
                <a:lnTo>
                  <a:pt x="724718" y="0"/>
                </a:lnTo>
                <a:lnTo>
                  <a:pt x="724718" y="963080"/>
                </a:lnTo>
                <a:lnTo>
                  <a:pt x="0" y="96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5400000">
            <a:off x="602865" y="8319724"/>
            <a:ext cx="724718" cy="963080"/>
          </a:xfrm>
          <a:custGeom>
            <a:avLst/>
            <a:gdLst/>
            <a:ahLst/>
            <a:cxnLst/>
            <a:rect l="l" t="t" r="r" b="b"/>
            <a:pathLst>
              <a:path w="724718" h="963080">
                <a:moveTo>
                  <a:pt x="0" y="0"/>
                </a:moveTo>
                <a:lnTo>
                  <a:pt x="724718" y="0"/>
                </a:lnTo>
                <a:lnTo>
                  <a:pt x="724718" y="963080"/>
                </a:lnTo>
                <a:lnTo>
                  <a:pt x="0" y="96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5400000">
            <a:off x="530220" y="2883032"/>
            <a:ext cx="731298" cy="971825"/>
          </a:xfrm>
          <a:custGeom>
            <a:avLst/>
            <a:gdLst/>
            <a:ahLst/>
            <a:cxnLst/>
            <a:rect l="l" t="t" r="r" b="b"/>
            <a:pathLst>
              <a:path w="731298" h="971825">
                <a:moveTo>
                  <a:pt x="0" y="0"/>
                </a:moveTo>
                <a:lnTo>
                  <a:pt x="731298" y="0"/>
                </a:lnTo>
                <a:lnTo>
                  <a:pt x="731298" y="971825"/>
                </a:lnTo>
                <a:lnTo>
                  <a:pt x="0" y="97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93256" y="3128591"/>
            <a:ext cx="805226" cy="525093"/>
          </a:xfrm>
          <a:custGeom>
            <a:avLst/>
            <a:gdLst/>
            <a:ahLst/>
            <a:cxnLst/>
            <a:rect l="l" t="t" r="r" b="b"/>
            <a:pathLst>
              <a:path w="805226" h="525093">
                <a:moveTo>
                  <a:pt x="0" y="0"/>
                </a:moveTo>
                <a:lnTo>
                  <a:pt x="805226" y="0"/>
                </a:lnTo>
                <a:lnTo>
                  <a:pt x="805226" y="525093"/>
                </a:lnTo>
                <a:lnTo>
                  <a:pt x="0" y="5250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2463" t="-148924" r="-83291" b="-158609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143970" y="3100580"/>
            <a:ext cx="759093" cy="526378"/>
          </a:xfrm>
          <a:custGeom>
            <a:avLst/>
            <a:gdLst/>
            <a:ahLst/>
            <a:cxnLst/>
            <a:rect l="l" t="t" r="r" b="b"/>
            <a:pathLst>
              <a:path w="759093" h="526378">
                <a:moveTo>
                  <a:pt x="0" y="0"/>
                </a:moveTo>
                <a:lnTo>
                  <a:pt x="759093" y="0"/>
                </a:lnTo>
                <a:lnTo>
                  <a:pt x="759093" y="526378"/>
                </a:lnTo>
                <a:lnTo>
                  <a:pt x="0" y="5263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4313" t="-160995" r="-97206" b="-159407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933292" y="3120655"/>
            <a:ext cx="602344" cy="486229"/>
          </a:xfrm>
          <a:custGeom>
            <a:avLst/>
            <a:gdLst/>
            <a:ahLst/>
            <a:cxnLst/>
            <a:rect l="l" t="t" r="r" b="b"/>
            <a:pathLst>
              <a:path w="602344" h="486229">
                <a:moveTo>
                  <a:pt x="0" y="0"/>
                </a:moveTo>
                <a:lnTo>
                  <a:pt x="602344" y="0"/>
                </a:lnTo>
                <a:lnTo>
                  <a:pt x="602344" y="486229"/>
                </a:lnTo>
                <a:lnTo>
                  <a:pt x="0" y="4862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227" t="-47923" r="-31167" b="-50774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899174" y="2655051"/>
            <a:ext cx="739430" cy="1037239"/>
          </a:xfrm>
          <a:custGeom>
            <a:avLst/>
            <a:gdLst/>
            <a:ahLst/>
            <a:cxnLst/>
            <a:rect l="l" t="t" r="r" b="b"/>
            <a:pathLst>
              <a:path w="739430" h="1037239">
                <a:moveTo>
                  <a:pt x="0" y="0"/>
                </a:moveTo>
                <a:lnTo>
                  <a:pt x="739430" y="0"/>
                </a:lnTo>
                <a:lnTo>
                  <a:pt x="739430" y="1037239"/>
                </a:lnTo>
                <a:lnTo>
                  <a:pt x="0" y="1037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3071" t="-53452" r="-94543" b="-51583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565281" y="2682275"/>
            <a:ext cx="1105292" cy="1027272"/>
          </a:xfrm>
          <a:custGeom>
            <a:avLst/>
            <a:gdLst/>
            <a:ahLst/>
            <a:cxnLst/>
            <a:rect l="l" t="t" r="r" b="b"/>
            <a:pathLst>
              <a:path w="1105292" h="1027272">
                <a:moveTo>
                  <a:pt x="0" y="0"/>
                </a:moveTo>
                <a:lnTo>
                  <a:pt x="1105293" y="0"/>
                </a:lnTo>
                <a:lnTo>
                  <a:pt x="1105293" y="1027272"/>
                </a:lnTo>
                <a:lnTo>
                  <a:pt x="0" y="1027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7042" t="-43285" r="-36349" b="-43274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624338" y="3914404"/>
            <a:ext cx="987178" cy="890079"/>
          </a:xfrm>
          <a:custGeom>
            <a:avLst/>
            <a:gdLst/>
            <a:ahLst/>
            <a:cxnLst/>
            <a:rect l="l" t="t" r="r" b="b"/>
            <a:pathLst>
              <a:path w="987178" h="890079">
                <a:moveTo>
                  <a:pt x="0" y="0"/>
                </a:moveTo>
                <a:lnTo>
                  <a:pt x="987179" y="0"/>
                </a:lnTo>
                <a:lnTo>
                  <a:pt x="987179" y="890079"/>
                </a:lnTo>
                <a:lnTo>
                  <a:pt x="0" y="8900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1406" t="-46336" r="-43778" b="-59050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869751" y="3968762"/>
            <a:ext cx="798276" cy="781363"/>
          </a:xfrm>
          <a:custGeom>
            <a:avLst/>
            <a:gdLst/>
            <a:ahLst/>
            <a:cxnLst/>
            <a:rect l="l" t="t" r="r" b="b"/>
            <a:pathLst>
              <a:path w="798276" h="781363">
                <a:moveTo>
                  <a:pt x="0" y="0"/>
                </a:moveTo>
                <a:lnTo>
                  <a:pt x="798276" y="0"/>
                </a:lnTo>
                <a:lnTo>
                  <a:pt x="798276" y="781363"/>
                </a:lnTo>
                <a:lnTo>
                  <a:pt x="0" y="781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8869" t="-38836" r="-34600" b="-38387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310422" y="5076893"/>
            <a:ext cx="1118658" cy="784865"/>
          </a:xfrm>
          <a:custGeom>
            <a:avLst/>
            <a:gdLst/>
            <a:ahLst/>
            <a:cxnLst/>
            <a:rect l="l" t="t" r="r" b="b"/>
            <a:pathLst>
              <a:path w="1118658" h="784865">
                <a:moveTo>
                  <a:pt x="0" y="0"/>
                </a:moveTo>
                <a:lnTo>
                  <a:pt x="1118658" y="0"/>
                </a:lnTo>
                <a:lnTo>
                  <a:pt x="1118658" y="784865"/>
                </a:lnTo>
                <a:lnTo>
                  <a:pt x="0" y="7848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0353" t="-72833" r="-40357" b="-84732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01329" y="8454698"/>
            <a:ext cx="727790" cy="693133"/>
          </a:xfrm>
          <a:custGeom>
            <a:avLst/>
            <a:gdLst/>
            <a:ahLst/>
            <a:cxnLst/>
            <a:rect l="l" t="t" r="r" b="b"/>
            <a:pathLst>
              <a:path w="727790" h="693133">
                <a:moveTo>
                  <a:pt x="0" y="0"/>
                </a:moveTo>
                <a:lnTo>
                  <a:pt x="727790" y="0"/>
                </a:lnTo>
                <a:lnTo>
                  <a:pt x="727790" y="693133"/>
                </a:lnTo>
                <a:lnTo>
                  <a:pt x="0" y="69313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55105" t="-57902" r="-50500" b="-57984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2241174" y="8555974"/>
            <a:ext cx="683820" cy="542069"/>
          </a:xfrm>
          <a:custGeom>
            <a:avLst/>
            <a:gdLst/>
            <a:ahLst/>
            <a:cxnLst/>
            <a:rect l="l" t="t" r="r" b="b"/>
            <a:pathLst>
              <a:path w="683820" h="542069">
                <a:moveTo>
                  <a:pt x="0" y="0"/>
                </a:moveTo>
                <a:lnTo>
                  <a:pt x="683820" y="0"/>
                </a:lnTo>
                <a:lnTo>
                  <a:pt x="683820" y="542069"/>
                </a:lnTo>
                <a:lnTo>
                  <a:pt x="0" y="5420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0403" t="-74917" r="-45348" b="-72024"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4016535" y="8497823"/>
            <a:ext cx="638607" cy="600220"/>
          </a:xfrm>
          <a:custGeom>
            <a:avLst/>
            <a:gdLst/>
            <a:ahLst/>
            <a:cxnLst/>
            <a:rect l="l" t="t" r="r" b="b"/>
            <a:pathLst>
              <a:path w="638607" h="600220">
                <a:moveTo>
                  <a:pt x="0" y="0"/>
                </a:moveTo>
                <a:lnTo>
                  <a:pt x="638606" y="0"/>
                </a:lnTo>
                <a:lnTo>
                  <a:pt x="638606" y="600220"/>
                </a:lnTo>
                <a:lnTo>
                  <a:pt x="0" y="6002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60224" t="-62410" r="-58017" b="-69788"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0505762" y="6260702"/>
            <a:ext cx="1042537" cy="660273"/>
          </a:xfrm>
          <a:custGeom>
            <a:avLst/>
            <a:gdLst/>
            <a:ahLst/>
            <a:cxnLst/>
            <a:rect l="l" t="t" r="r" b="b"/>
            <a:pathLst>
              <a:path w="1042537" h="660273">
                <a:moveTo>
                  <a:pt x="0" y="0"/>
                </a:moveTo>
                <a:lnTo>
                  <a:pt x="1042537" y="0"/>
                </a:lnTo>
                <a:lnTo>
                  <a:pt x="1042537" y="660273"/>
                </a:lnTo>
                <a:lnTo>
                  <a:pt x="0" y="66027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46987" t="-106109" r="-41283" b="-91161"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403085" y="7272536"/>
            <a:ext cx="992178" cy="992178"/>
          </a:xfrm>
          <a:custGeom>
            <a:avLst/>
            <a:gdLst/>
            <a:ahLst/>
            <a:cxnLst/>
            <a:rect l="l" t="t" r="r" b="b"/>
            <a:pathLst>
              <a:path w="992178" h="992178">
                <a:moveTo>
                  <a:pt x="0" y="0"/>
                </a:moveTo>
                <a:lnTo>
                  <a:pt x="992177" y="0"/>
                </a:lnTo>
                <a:lnTo>
                  <a:pt x="992177" y="992178"/>
                </a:lnTo>
                <a:lnTo>
                  <a:pt x="0" y="99217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49640" t="-50002" r="-46476" b="-46113"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126575" y="4365936"/>
            <a:ext cx="1353631" cy="1188027"/>
          </a:xfrm>
          <a:custGeom>
            <a:avLst/>
            <a:gdLst/>
            <a:ahLst/>
            <a:cxnLst/>
            <a:rect l="l" t="t" r="r" b="b"/>
            <a:pathLst>
              <a:path w="1353631" h="1188027">
                <a:moveTo>
                  <a:pt x="0" y="0"/>
                </a:moveTo>
                <a:lnTo>
                  <a:pt x="1353630" y="0"/>
                </a:lnTo>
                <a:lnTo>
                  <a:pt x="1353630" y="1188027"/>
                </a:lnTo>
                <a:lnTo>
                  <a:pt x="0" y="11880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58622" t="-48694" r="-53815" b="-93355"/>
            </a:stretch>
          </a:blipFill>
        </p:spPr>
      </p:sp>
      <p:sp>
        <p:nvSpPr>
          <p:cNvPr id="42" name="AutoShape 42"/>
          <p:cNvSpPr/>
          <p:nvPr/>
        </p:nvSpPr>
        <p:spPr>
          <a:xfrm flipV="1">
            <a:off x="15302949" y="2941790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Freeform 43"/>
          <p:cNvSpPr/>
          <p:nvPr/>
        </p:nvSpPr>
        <p:spPr>
          <a:xfrm>
            <a:off x="16122099" y="5115813"/>
            <a:ext cx="1497676" cy="1112948"/>
          </a:xfrm>
          <a:custGeom>
            <a:avLst/>
            <a:gdLst/>
            <a:ahLst/>
            <a:cxnLst/>
            <a:rect l="l" t="t" r="r" b="b"/>
            <a:pathLst>
              <a:path w="1497676" h="1112948">
                <a:moveTo>
                  <a:pt x="0" y="0"/>
                </a:moveTo>
                <a:lnTo>
                  <a:pt x="1497676" y="0"/>
                </a:lnTo>
                <a:lnTo>
                  <a:pt x="1497676" y="1112948"/>
                </a:lnTo>
                <a:lnTo>
                  <a:pt x="0" y="111294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7463" t="-78934" r="-45499" b="-80732"/>
            </a:stretch>
          </a:blipFill>
        </p:spPr>
      </p:sp>
      <p:sp>
        <p:nvSpPr>
          <p:cNvPr id="44" name="AutoShape 44"/>
          <p:cNvSpPr/>
          <p:nvPr/>
        </p:nvSpPr>
        <p:spPr>
          <a:xfrm flipH="1">
            <a:off x="12754906" y="5755934"/>
            <a:ext cx="2096968" cy="209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H="1">
            <a:off x="15631144" y="6571661"/>
            <a:ext cx="24795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Freeform 46"/>
          <p:cNvSpPr/>
          <p:nvPr/>
        </p:nvSpPr>
        <p:spPr>
          <a:xfrm>
            <a:off x="16240616" y="8114455"/>
            <a:ext cx="1260641" cy="1209763"/>
          </a:xfrm>
          <a:custGeom>
            <a:avLst/>
            <a:gdLst/>
            <a:ahLst/>
            <a:cxnLst/>
            <a:rect l="l" t="t" r="r" b="b"/>
            <a:pathLst>
              <a:path w="1260641" h="1209763">
                <a:moveTo>
                  <a:pt x="0" y="0"/>
                </a:moveTo>
                <a:lnTo>
                  <a:pt x="1260641" y="0"/>
                </a:lnTo>
                <a:lnTo>
                  <a:pt x="1260641" y="1209763"/>
                </a:lnTo>
                <a:lnTo>
                  <a:pt x="0" y="12097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38210" t="-43152" r="-40884" b="-43475"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2856281" y="7403760"/>
            <a:ext cx="1958042" cy="1761144"/>
          </a:xfrm>
          <a:custGeom>
            <a:avLst/>
            <a:gdLst/>
            <a:ahLst/>
            <a:cxnLst/>
            <a:rect l="l" t="t" r="r" b="b"/>
            <a:pathLst>
              <a:path w="1958042" h="1761144">
                <a:moveTo>
                  <a:pt x="0" y="0"/>
                </a:moveTo>
                <a:lnTo>
                  <a:pt x="1958042" y="0"/>
                </a:lnTo>
                <a:lnTo>
                  <a:pt x="1958042" y="1761145"/>
                </a:lnTo>
                <a:lnTo>
                  <a:pt x="0" y="176114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61642" t="-68383" r="-61476" b="-79679"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710123" y="2025307"/>
            <a:ext cx="361570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SOLUTION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94958" y="2041425"/>
            <a:ext cx="649223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IT SOLVES THE PROBLEM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225826" y="2027353"/>
            <a:ext cx="602835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UNIQUE VALUE PROPOSITION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1500" y="2485226"/>
            <a:ext cx="4356805" cy="2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Forecasting the need before it appears.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-19149" y="3996356"/>
            <a:ext cx="54762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has adaptive ML that predicts material demand.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-19149" y="5177456"/>
            <a:ext cx="426708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has Real-time dashboard &amp; alerts.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84581" y="3188712"/>
            <a:ext cx="402098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400"/>
              </a:lnSpc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Reduces shortages &amp; overstock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399318" y="4262556"/>
            <a:ext cx="364335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400"/>
              </a:lnSpc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Improves cost efficiency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762361" y="5204533"/>
            <a:ext cx="409747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Supports planners with actionable insights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-38937" y="4586906"/>
            <a:ext cx="398002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Integrates with ERP/project data.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-19149" y="5768006"/>
            <a:ext cx="547628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Prioritizes critical materials and procurement schedules to avoid delays.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-19149" y="6663356"/>
            <a:ext cx="547628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Analyzes historical trends and seasonal patterns to improve forecast accuracy.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-38937" y="7558706"/>
            <a:ext cx="5623522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Generates automated reports and recommendations for planners and managers.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762361" y="6309433"/>
            <a:ext cx="4323416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Minimizes project delays by ensuring timely material availability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762361" y="7547683"/>
            <a:ext cx="4520295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Enhances budget utilization and resource allocation across projects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456231" y="2953638"/>
            <a:ext cx="2694318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Trained specifically for POWERGRID’s material and project patterns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5579174" y="3410838"/>
            <a:ext cx="2496557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Translates predictions into intelligent procurement decisions. [what to order, when, and how much]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808610" y="6784635"/>
            <a:ext cx="2154319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Run “what-if” simulations. Predict. Prepare. Prevent.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634252" y="5994060"/>
            <a:ext cx="2318525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Charts, heatmaps, KPIs (shortage risk, overstock %, predicted demand).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297432" y="1265567"/>
            <a:ext cx="6327930" cy="2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spc="577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ANALYZE. ANTICIPATE. ACT.</a:t>
            </a:r>
          </a:p>
        </p:txBody>
      </p:sp>
      <p:sp>
        <p:nvSpPr>
          <p:cNvPr id="68" name="AutoShape 68"/>
          <p:cNvSpPr/>
          <p:nvPr/>
        </p:nvSpPr>
        <p:spPr>
          <a:xfrm>
            <a:off x="6253776" y="1673683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0100" y="70546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972300" y="9520242"/>
            <a:ext cx="4806000" cy="5619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XANTHIC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545205" y="2143680"/>
            <a:ext cx="17197589" cy="983721"/>
          </a:xfrm>
          <a:custGeom>
            <a:avLst/>
            <a:gdLst/>
            <a:ahLst/>
            <a:cxnLst/>
            <a:rect l="l" t="t" r="r" b="b"/>
            <a:pathLst>
              <a:path w="17197589" h="983721">
                <a:moveTo>
                  <a:pt x="0" y="0"/>
                </a:moveTo>
                <a:lnTo>
                  <a:pt x="17197590" y="0"/>
                </a:lnTo>
                <a:lnTo>
                  <a:pt x="17197590" y="983721"/>
                </a:lnTo>
                <a:lnTo>
                  <a:pt x="0" y="98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7335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56842" y="3317843"/>
            <a:ext cx="6106628" cy="3213613"/>
          </a:xfrm>
          <a:custGeom>
            <a:avLst/>
            <a:gdLst/>
            <a:ahLst/>
            <a:cxnLst/>
            <a:rect l="l" t="t" r="r" b="b"/>
            <a:pathLst>
              <a:path w="6106628" h="3213613">
                <a:moveTo>
                  <a:pt x="0" y="0"/>
                </a:moveTo>
                <a:lnTo>
                  <a:pt x="6106628" y="0"/>
                </a:lnTo>
                <a:lnTo>
                  <a:pt x="6106628" y="3213613"/>
                </a:lnTo>
                <a:lnTo>
                  <a:pt x="0" y="3213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711479" y="3363211"/>
            <a:ext cx="5826657" cy="3168245"/>
          </a:xfrm>
          <a:custGeom>
            <a:avLst/>
            <a:gdLst/>
            <a:ahLst/>
            <a:cxnLst/>
            <a:rect l="l" t="t" r="r" b="b"/>
            <a:pathLst>
              <a:path w="5826657" h="3168245">
                <a:moveTo>
                  <a:pt x="0" y="0"/>
                </a:moveTo>
                <a:lnTo>
                  <a:pt x="5826657" y="0"/>
                </a:lnTo>
                <a:lnTo>
                  <a:pt x="5826657" y="3168245"/>
                </a:lnTo>
                <a:lnTo>
                  <a:pt x="0" y="316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785786" y="3363211"/>
            <a:ext cx="5344819" cy="3190929"/>
          </a:xfrm>
          <a:custGeom>
            <a:avLst/>
            <a:gdLst/>
            <a:ahLst/>
            <a:cxnLst/>
            <a:rect l="l" t="t" r="r" b="b"/>
            <a:pathLst>
              <a:path w="5344819" h="3190929">
                <a:moveTo>
                  <a:pt x="0" y="0"/>
                </a:moveTo>
                <a:lnTo>
                  <a:pt x="5344819" y="0"/>
                </a:lnTo>
                <a:lnTo>
                  <a:pt x="5344819" y="3190929"/>
                </a:lnTo>
                <a:lnTo>
                  <a:pt x="0" y="31909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272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56842" y="6721956"/>
            <a:ext cx="6106628" cy="2703995"/>
          </a:xfrm>
          <a:custGeom>
            <a:avLst/>
            <a:gdLst/>
            <a:ahLst/>
            <a:cxnLst/>
            <a:rect l="l" t="t" r="r" b="b"/>
            <a:pathLst>
              <a:path w="6106628" h="2703995">
                <a:moveTo>
                  <a:pt x="0" y="0"/>
                </a:moveTo>
                <a:lnTo>
                  <a:pt x="6106628" y="0"/>
                </a:lnTo>
                <a:lnTo>
                  <a:pt x="6106628" y="2703995"/>
                </a:lnTo>
                <a:lnTo>
                  <a:pt x="0" y="2703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090" b="-17603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711479" y="6721956"/>
            <a:ext cx="5826657" cy="2703995"/>
          </a:xfrm>
          <a:custGeom>
            <a:avLst/>
            <a:gdLst/>
            <a:ahLst/>
            <a:cxnLst/>
            <a:rect l="l" t="t" r="r" b="b"/>
            <a:pathLst>
              <a:path w="5826657" h="2703995">
                <a:moveTo>
                  <a:pt x="0" y="0"/>
                </a:moveTo>
                <a:lnTo>
                  <a:pt x="5826657" y="0"/>
                </a:lnTo>
                <a:lnTo>
                  <a:pt x="5826657" y="2703995"/>
                </a:lnTo>
                <a:lnTo>
                  <a:pt x="0" y="2703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0522" r="-9416" b="-29224"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3305634" y="6691144"/>
            <a:ext cx="1149039" cy="1149039"/>
            <a:chOff x="0" y="0"/>
            <a:chExt cx="1532052" cy="15320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32052" cy="1532052"/>
            </a:xfrm>
            <a:custGeom>
              <a:avLst/>
              <a:gdLst/>
              <a:ahLst/>
              <a:cxnLst/>
              <a:rect l="l" t="t" r="r" b="b"/>
              <a:pathLst>
                <a:path w="1532052" h="1532052">
                  <a:moveTo>
                    <a:pt x="0" y="0"/>
                  </a:moveTo>
                  <a:lnTo>
                    <a:pt x="1532052" y="0"/>
                  </a:lnTo>
                  <a:lnTo>
                    <a:pt x="1532052" y="1532052"/>
                  </a:lnTo>
                  <a:lnTo>
                    <a:pt x="0" y="15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267925" y="609367"/>
              <a:ext cx="1027273" cy="313318"/>
            </a:xfrm>
            <a:custGeom>
              <a:avLst/>
              <a:gdLst/>
              <a:ahLst/>
              <a:cxnLst/>
              <a:rect l="l" t="t" r="r" b="b"/>
              <a:pathLst>
                <a:path w="1027273" h="313318">
                  <a:moveTo>
                    <a:pt x="0" y="0"/>
                  </a:moveTo>
                  <a:lnTo>
                    <a:pt x="1027273" y="0"/>
                  </a:lnTo>
                  <a:lnTo>
                    <a:pt x="1027273" y="313318"/>
                  </a:lnTo>
                  <a:lnTo>
                    <a:pt x="0" y="313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4812208" y="6691144"/>
            <a:ext cx="1149039" cy="1149039"/>
            <a:chOff x="0" y="0"/>
            <a:chExt cx="1532052" cy="15320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32052" cy="1532052"/>
            </a:xfrm>
            <a:custGeom>
              <a:avLst/>
              <a:gdLst/>
              <a:ahLst/>
              <a:cxnLst/>
              <a:rect l="l" t="t" r="r" b="b"/>
              <a:pathLst>
                <a:path w="1532052" h="1532052">
                  <a:moveTo>
                    <a:pt x="0" y="0"/>
                  </a:moveTo>
                  <a:lnTo>
                    <a:pt x="1532052" y="0"/>
                  </a:lnTo>
                  <a:lnTo>
                    <a:pt x="1532052" y="1532052"/>
                  </a:lnTo>
                  <a:lnTo>
                    <a:pt x="0" y="15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353296" y="373919"/>
              <a:ext cx="825459" cy="850989"/>
            </a:xfrm>
            <a:custGeom>
              <a:avLst/>
              <a:gdLst/>
              <a:ahLst/>
              <a:cxnLst/>
              <a:rect l="l" t="t" r="r" b="b"/>
              <a:pathLst>
                <a:path w="825459" h="850989">
                  <a:moveTo>
                    <a:pt x="0" y="0"/>
                  </a:moveTo>
                  <a:lnTo>
                    <a:pt x="825459" y="0"/>
                  </a:lnTo>
                  <a:lnTo>
                    <a:pt x="825459" y="850988"/>
                  </a:lnTo>
                  <a:lnTo>
                    <a:pt x="0" y="85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6461718" y="6691144"/>
            <a:ext cx="1149039" cy="1149039"/>
            <a:chOff x="0" y="0"/>
            <a:chExt cx="1532052" cy="15320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32052" cy="1532052"/>
            </a:xfrm>
            <a:custGeom>
              <a:avLst/>
              <a:gdLst/>
              <a:ahLst/>
              <a:cxnLst/>
              <a:rect l="l" t="t" r="r" b="b"/>
              <a:pathLst>
                <a:path w="1532052" h="1532052">
                  <a:moveTo>
                    <a:pt x="0" y="0"/>
                  </a:moveTo>
                  <a:lnTo>
                    <a:pt x="1532052" y="0"/>
                  </a:lnTo>
                  <a:lnTo>
                    <a:pt x="1532052" y="1532052"/>
                  </a:lnTo>
                  <a:lnTo>
                    <a:pt x="0" y="15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373919" y="373919"/>
              <a:ext cx="784214" cy="784214"/>
            </a:xfrm>
            <a:custGeom>
              <a:avLst/>
              <a:gdLst/>
              <a:ahLst/>
              <a:cxnLst/>
              <a:rect l="l" t="t" r="r" b="b"/>
              <a:pathLst>
                <a:path w="784214" h="784214">
                  <a:moveTo>
                    <a:pt x="0" y="0"/>
                  </a:moveTo>
                  <a:lnTo>
                    <a:pt x="784214" y="0"/>
                  </a:lnTo>
                  <a:lnTo>
                    <a:pt x="784214" y="784214"/>
                  </a:lnTo>
                  <a:lnTo>
                    <a:pt x="0" y="784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3234910" y="8104651"/>
            <a:ext cx="1290488" cy="1290488"/>
            <a:chOff x="0" y="0"/>
            <a:chExt cx="1720651" cy="172065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20651" cy="1720651"/>
            </a:xfrm>
            <a:custGeom>
              <a:avLst/>
              <a:gdLst/>
              <a:ahLst/>
              <a:cxnLst/>
              <a:rect l="l" t="t" r="r" b="b"/>
              <a:pathLst>
                <a:path w="1720651" h="1720651">
                  <a:moveTo>
                    <a:pt x="0" y="0"/>
                  </a:moveTo>
                  <a:lnTo>
                    <a:pt x="1720651" y="0"/>
                  </a:lnTo>
                  <a:lnTo>
                    <a:pt x="1720651" y="1720651"/>
                  </a:lnTo>
                  <a:lnTo>
                    <a:pt x="0" y="1720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300908" y="580676"/>
              <a:ext cx="1118600" cy="559300"/>
            </a:xfrm>
            <a:custGeom>
              <a:avLst/>
              <a:gdLst/>
              <a:ahLst/>
              <a:cxnLst/>
              <a:rect l="l" t="t" r="r" b="b"/>
              <a:pathLst>
                <a:path w="1118600" h="559300">
                  <a:moveTo>
                    <a:pt x="0" y="0"/>
                  </a:moveTo>
                  <a:lnTo>
                    <a:pt x="1118599" y="0"/>
                  </a:lnTo>
                  <a:lnTo>
                    <a:pt x="1118599" y="559299"/>
                  </a:lnTo>
                  <a:lnTo>
                    <a:pt x="0" y="559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4849750" y="8104651"/>
            <a:ext cx="1290488" cy="1290488"/>
            <a:chOff x="0" y="0"/>
            <a:chExt cx="1720651" cy="172065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20651" cy="1720651"/>
            </a:xfrm>
            <a:custGeom>
              <a:avLst/>
              <a:gdLst/>
              <a:ahLst/>
              <a:cxnLst/>
              <a:rect l="l" t="t" r="r" b="b"/>
              <a:pathLst>
                <a:path w="1720651" h="1720651">
                  <a:moveTo>
                    <a:pt x="0" y="0"/>
                  </a:moveTo>
                  <a:lnTo>
                    <a:pt x="1720651" y="0"/>
                  </a:lnTo>
                  <a:lnTo>
                    <a:pt x="1720651" y="1720651"/>
                  </a:lnTo>
                  <a:lnTo>
                    <a:pt x="0" y="1720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300160" y="300160"/>
              <a:ext cx="1120332" cy="1120332"/>
            </a:xfrm>
            <a:custGeom>
              <a:avLst/>
              <a:gdLst/>
              <a:ahLst/>
              <a:cxnLst/>
              <a:rect l="l" t="t" r="r" b="b"/>
              <a:pathLst>
                <a:path w="1120332" h="1120332">
                  <a:moveTo>
                    <a:pt x="0" y="0"/>
                  </a:moveTo>
                  <a:lnTo>
                    <a:pt x="1120331" y="0"/>
                  </a:lnTo>
                  <a:lnTo>
                    <a:pt x="1120331" y="1120331"/>
                  </a:lnTo>
                  <a:lnTo>
                    <a:pt x="0" y="1120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6390993" y="8104651"/>
            <a:ext cx="1290488" cy="1290488"/>
            <a:chOff x="0" y="0"/>
            <a:chExt cx="1720651" cy="172065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720651" cy="1720651"/>
            </a:xfrm>
            <a:custGeom>
              <a:avLst/>
              <a:gdLst/>
              <a:ahLst/>
              <a:cxnLst/>
              <a:rect l="l" t="t" r="r" b="b"/>
              <a:pathLst>
                <a:path w="1720651" h="1720651">
                  <a:moveTo>
                    <a:pt x="0" y="0"/>
                  </a:moveTo>
                  <a:lnTo>
                    <a:pt x="1720651" y="0"/>
                  </a:lnTo>
                  <a:lnTo>
                    <a:pt x="1720651" y="1720651"/>
                  </a:lnTo>
                  <a:lnTo>
                    <a:pt x="0" y="1720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03117" y="699624"/>
              <a:ext cx="1334801" cy="423799"/>
            </a:xfrm>
            <a:custGeom>
              <a:avLst/>
              <a:gdLst/>
              <a:ahLst/>
              <a:cxnLst/>
              <a:rect l="l" t="t" r="r" b="b"/>
              <a:pathLst>
                <a:path w="1334801" h="423799">
                  <a:moveTo>
                    <a:pt x="0" y="0"/>
                  </a:moveTo>
                  <a:lnTo>
                    <a:pt x="1334800" y="0"/>
                  </a:lnTo>
                  <a:lnTo>
                    <a:pt x="1334800" y="423799"/>
                  </a:lnTo>
                  <a:lnTo>
                    <a:pt x="0" y="42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01324" y="12662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XANTHIC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55690" y="2451553"/>
            <a:ext cx="8229600" cy="5944875"/>
            <a:chOff x="0" y="0"/>
            <a:chExt cx="2167467" cy="15657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67467" cy="1565728"/>
            </a:xfrm>
            <a:custGeom>
              <a:avLst/>
              <a:gdLst/>
              <a:ahLst/>
              <a:cxnLst/>
              <a:rect l="l" t="t" r="r" b="b"/>
              <a:pathLst>
                <a:path w="2167467" h="1565728">
                  <a:moveTo>
                    <a:pt x="36689" y="0"/>
                  </a:moveTo>
                  <a:lnTo>
                    <a:pt x="2130778" y="0"/>
                  </a:lnTo>
                  <a:cubicBezTo>
                    <a:pt x="2151041" y="0"/>
                    <a:pt x="2167467" y="16426"/>
                    <a:pt x="2167467" y="36689"/>
                  </a:cubicBezTo>
                  <a:lnTo>
                    <a:pt x="2167467" y="1529040"/>
                  </a:lnTo>
                  <a:cubicBezTo>
                    <a:pt x="2167467" y="1538770"/>
                    <a:pt x="2163601" y="1548102"/>
                    <a:pt x="2156721" y="1554982"/>
                  </a:cubicBezTo>
                  <a:cubicBezTo>
                    <a:pt x="2149840" y="1561863"/>
                    <a:pt x="2140508" y="1565728"/>
                    <a:pt x="2130778" y="1565728"/>
                  </a:cubicBezTo>
                  <a:lnTo>
                    <a:pt x="36689" y="1565728"/>
                  </a:lnTo>
                  <a:cubicBezTo>
                    <a:pt x="16426" y="1565728"/>
                    <a:pt x="0" y="1549302"/>
                    <a:pt x="0" y="1529040"/>
                  </a:cubicBezTo>
                  <a:lnTo>
                    <a:pt x="0" y="36689"/>
                  </a:lnTo>
                  <a:cubicBezTo>
                    <a:pt x="0" y="16426"/>
                    <a:pt x="16426" y="0"/>
                    <a:pt x="36689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67467" cy="1603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75300" y="2451553"/>
            <a:ext cx="8229600" cy="5944875"/>
            <a:chOff x="0" y="0"/>
            <a:chExt cx="2167467" cy="15657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67467" cy="1565728"/>
            </a:xfrm>
            <a:custGeom>
              <a:avLst/>
              <a:gdLst/>
              <a:ahLst/>
              <a:cxnLst/>
              <a:rect l="l" t="t" r="r" b="b"/>
              <a:pathLst>
                <a:path w="2167467" h="1565728">
                  <a:moveTo>
                    <a:pt x="36689" y="0"/>
                  </a:moveTo>
                  <a:lnTo>
                    <a:pt x="2130778" y="0"/>
                  </a:lnTo>
                  <a:cubicBezTo>
                    <a:pt x="2151041" y="0"/>
                    <a:pt x="2167467" y="16426"/>
                    <a:pt x="2167467" y="36689"/>
                  </a:cubicBezTo>
                  <a:lnTo>
                    <a:pt x="2167467" y="1529040"/>
                  </a:lnTo>
                  <a:cubicBezTo>
                    <a:pt x="2167467" y="1538770"/>
                    <a:pt x="2163601" y="1548102"/>
                    <a:pt x="2156721" y="1554982"/>
                  </a:cubicBezTo>
                  <a:cubicBezTo>
                    <a:pt x="2149840" y="1561863"/>
                    <a:pt x="2140508" y="1565728"/>
                    <a:pt x="2130778" y="1565728"/>
                  </a:cubicBezTo>
                  <a:lnTo>
                    <a:pt x="36689" y="1565728"/>
                  </a:lnTo>
                  <a:cubicBezTo>
                    <a:pt x="16426" y="1565728"/>
                    <a:pt x="0" y="1549302"/>
                    <a:pt x="0" y="1529040"/>
                  </a:cubicBezTo>
                  <a:lnTo>
                    <a:pt x="0" y="36689"/>
                  </a:lnTo>
                  <a:cubicBezTo>
                    <a:pt x="0" y="16426"/>
                    <a:pt x="16426" y="0"/>
                    <a:pt x="36689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67467" cy="1603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829571" y="2553684"/>
            <a:ext cx="5931479" cy="81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Feasibility Analysis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234" y="3624976"/>
            <a:ext cx="8229600" cy="4474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Technical: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ML can forecast material needs.</a:t>
            </a:r>
          </a:p>
          <a:p>
            <a:pPr algn="l">
              <a:lnSpc>
                <a:spcPts val="7139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Operational: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Fits with current systems easily.</a:t>
            </a:r>
          </a:p>
          <a:p>
            <a:pPr algn="l">
              <a:lnSpc>
                <a:spcPts val="7139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Economic: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Cuts costs and prevents delays.</a:t>
            </a:r>
          </a:p>
          <a:p>
            <a:pPr algn="l">
              <a:lnSpc>
                <a:spcPts val="7139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Scalable: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grow from key items to all projects.</a:t>
            </a:r>
          </a:p>
          <a:p>
            <a:pPr algn="l">
              <a:lnSpc>
                <a:spcPts val="7139"/>
              </a:lnSpc>
            </a:pPr>
            <a:endParaRPr lang="en-US" sz="3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233925" y="2553684"/>
            <a:ext cx="5224504" cy="81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Viability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9676" y="3248743"/>
            <a:ext cx="7985224" cy="5227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14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Practical: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be built with current technology.</a:t>
            </a:r>
          </a:p>
          <a:p>
            <a:pPr algn="just">
              <a:lnSpc>
                <a:spcPts val="714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Effective: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Helps plan better and avoid shortages.</a:t>
            </a:r>
          </a:p>
          <a:p>
            <a:pPr algn="just">
              <a:lnSpc>
                <a:spcPts val="714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Cost-saving: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Reduces waste and extra costs.</a:t>
            </a:r>
          </a:p>
          <a:p>
            <a:pPr algn="just">
              <a:lnSpc>
                <a:spcPts val="594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Scalable:</a:t>
            </a: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grow to cover all projects and </a:t>
            </a:r>
          </a:p>
          <a:p>
            <a:pPr algn="just">
              <a:lnSpc>
                <a:spcPts val="7140"/>
              </a:lnSpc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regions.</a:t>
            </a:r>
          </a:p>
          <a:p>
            <a:pPr algn="just">
              <a:lnSpc>
                <a:spcPts val="7140"/>
              </a:lnSpc>
            </a:pPr>
            <a:endParaRPr lang="en-US" sz="3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028700" y="7624572"/>
            <a:ext cx="1602009" cy="1541327"/>
          </a:xfrm>
          <a:custGeom>
            <a:avLst/>
            <a:gdLst/>
            <a:ahLst/>
            <a:cxnLst/>
            <a:rect l="l" t="t" r="r" b="b"/>
            <a:pathLst>
              <a:path w="1602009" h="1541327">
                <a:moveTo>
                  <a:pt x="0" y="0"/>
                </a:moveTo>
                <a:lnTo>
                  <a:pt x="1602009" y="0"/>
                </a:lnTo>
                <a:lnTo>
                  <a:pt x="1602009" y="1541327"/>
                </a:lnTo>
                <a:lnTo>
                  <a:pt x="0" y="1541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023" t="-190584" r="-187419" b="-73655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922103" y="7603243"/>
            <a:ext cx="1572076" cy="1583985"/>
          </a:xfrm>
          <a:custGeom>
            <a:avLst/>
            <a:gdLst/>
            <a:ahLst/>
            <a:cxnLst/>
            <a:rect l="l" t="t" r="r" b="b"/>
            <a:pathLst>
              <a:path w="1572076" h="1583985">
                <a:moveTo>
                  <a:pt x="0" y="0"/>
                </a:moveTo>
                <a:lnTo>
                  <a:pt x="1572076" y="0"/>
                </a:lnTo>
                <a:lnTo>
                  <a:pt x="1572076" y="1583985"/>
                </a:lnTo>
                <a:lnTo>
                  <a:pt x="0" y="1583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538" t="-47400" r="-185904" b="-200407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002184" y="7605629"/>
            <a:ext cx="1569707" cy="1581599"/>
          </a:xfrm>
          <a:custGeom>
            <a:avLst/>
            <a:gdLst/>
            <a:ahLst/>
            <a:cxnLst/>
            <a:rect l="l" t="t" r="r" b="b"/>
            <a:pathLst>
              <a:path w="1569707" h="1581599">
                <a:moveTo>
                  <a:pt x="0" y="0"/>
                </a:moveTo>
                <a:lnTo>
                  <a:pt x="1569707" y="0"/>
                </a:lnTo>
                <a:lnTo>
                  <a:pt x="1569707" y="1581599"/>
                </a:lnTo>
                <a:lnTo>
                  <a:pt x="0" y="1581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8781" t="-47400" r="-61661" b="-200407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4943366" y="7640847"/>
            <a:ext cx="1607262" cy="1546381"/>
          </a:xfrm>
          <a:custGeom>
            <a:avLst/>
            <a:gdLst/>
            <a:ahLst/>
            <a:cxnLst/>
            <a:rect l="l" t="t" r="r" b="b"/>
            <a:pathLst>
              <a:path w="1607262" h="1546381">
                <a:moveTo>
                  <a:pt x="0" y="0"/>
                </a:moveTo>
                <a:lnTo>
                  <a:pt x="1607262" y="0"/>
                </a:lnTo>
                <a:lnTo>
                  <a:pt x="1607262" y="1546381"/>
                </a:lnTo>
                <a:lnTo>
                  <a:pt x="0" y="1546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0296" t="-189797" r="-60146" b="-74442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699574" y="7773526"/>
            <a:ext cx="1420781" cy="1432725"/>
          </a:xfrm>
          <a:custGeom>
            <a:avLst/>
            <a:gdLst/>
            <a:ahLst/>
            <a:cxnLst/>
            <a:rect l="l" t="t" r="r" b="b"/>
            <a:pathLst>
              <a:path w="1420781" h="1432725">
                <a:moveTo>
                  <a:pt x="0" y="0"/>
                </a:moveTo>
                <a:lnTo>
                  <a:pt x="1420781" y="0"/>
                </a:lnTo>
                <a:lnTo>
                  <a:pt x="1420781" y="1432724"/>
                </a:lnTo>
                <a:lnTo>
                  <a:pt x="0" y="143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6879" t="-167966" r="-45385" b="-51611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3879882" y="7745859"/>
            <a:ext cx="1448217" cy="1460391"/>
          </a:xfrm>
          <a:custGeom>
            <a:avLst/>
            <a:gdLst/>
            <a:ahLst/>
            <a:cxnLst/>
            <a:rect l="l" t="t" r="r" b="b"/>
            <a:pathLst>
              <a:path w="1448217" h="1460391">
                <a:moveTo>
                  <a:pt x="0" y="0"/>
                </a:moveTo>
                <a:lnTo>
                  <a:pt x="1448217" y="0"/>
                </a:lnTo>
                <a:lnTo>
                  <a:pt x="1448217" y="1460391"/>
                </a:lnTo>
                <a:lnTo>
                  <a:pt x="0" y="14603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118" t="-168672" r="-177146" b="-50904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913399" y="7733174"/>
            <a:ext cx="1595008" cy="1460391"/>
          </a:xfrm>
          <a:custGeom>
            <a:avLst/>
            <a:gdLst/>
            <a:ahLst/>
            <a:cxnLst/>
            <a:rect l="l" t="t" r="r" b="b"/>
            <a:pathLst>
              <a:path w="1595008" h="1460391">
                <a:moveTo>
                  <a:pt x="0" y="0"/>
                </a:moveTo>
                <a:lnTo>
                  <a:pt x="1595008" y="0"/>
                </a:lnTo>
                <a:lnTo>
                  <a:pt x="1595008" y="1460392"/>
                </a:lnTo>
                <a:lnTo>
                  <a:pt x="0" y="1460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8907" t="-36050" r="-40224" b="-201576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946916" y="7733174"/>
            <a:ext cx="1595008" cy="1460391"/>
          </a:xfrm>
          <a:custGeom>
            <a:avLst/>
            <a:gdLst/>
            <a:ahLst/>
            <a:cxnLst/>
            <a:rect l="l" t="t" r="r" b="b"/>
            <a:pathLst>
              <a:path w="1595008" h="1460391">
                <a:moveTo>
                  <a:pt x="0" y="0"/>
                </a:moveTo>
                <a:lnTo>
                  <a:pt x="1595008" y="0"/>
                </a:lnTo>
                <a:lnTo>
                  <a:pt x="1595008" y="1460392"/>
                </a:lnTo>
                <a:lnTo>
                  <a:pt x="0" y="1460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820" t="-34995" r="-166311" b="-202631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0100" y="12662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0" y="345032"/>
            <a:ext cx="1915886" cy="1263395"/>
            <a:chOff x="0" y="-19049"/>
            <a:chExt cx="2554514" cy="1684527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835" y="-19049"/>
              <a:ext cx="2503679" cy="1684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XANTHIC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8979588" y="2908492"/>
            <a:ext cx="9529942" cy="6116901"/>
          </a:xfrm>
          <a:custGeom>
            <a:avLst/>
            <a:gdLst/>
            <a:ahLst/>
            <a:cxnLst/>
            <a:rect l="l" t="t" r="r" b="b"/>
            <a:pathLst>
              <a:path w="9529942" h="6116901">
                <a:moveTo>
                  <a:pt x="0" y="0"/>
                </a:moveTo>
                <a:lnTo>
                  <a:pt x="9529942" y="0"/>
                </a:lnTo>
                <a:lnTo>
                  <a:pt x="9529942" y="6116900"/>
                </a:lnTo>
                <a:lnTo>
                  <a:pt x="0" y="6116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9340"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9208014" y="2305976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0" y="2908492"/>
            <a:ext cx="9208014" cy="5097673"/>
          </a:xfrm>
          <a:custGeom>
            <a:avLst/>
            <a:gdLst/>
            <a:ahLst/>
            <a:cxnLst/>
            <a:rect l="l" t="t" r="r" b="b"/>
            <a:pathLst>
              <a:path w="9208014" h="5097673">
                <a:moveTo>
                  <a:pt x="0" y="0"/>
                </a:moveTo>
                <a:lnTo>
                  <a:pt x="9208014" y="0"/>
                </a:lnTo>
                <a:lnTo>
                  <a:pt x="9208014" y="5097673"/>
                </a:lnTo>
                <a:lnTo>
                  <a:pt x="0" y="5097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551" r="-7823" b="-38997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71949" y="1980502"/>
            <a:ext cx="626411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Impact of SupplySense on Stakeholders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54836" y="1980502"/>
            <a:ext cx="369476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Benefits at a Glance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0100" y="17145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XANTHIC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84917" y="2131933"/>
            <a:ext cx="17718165" cy="673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3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Machine learning demand forecasting and supply chain performance</a:t>
            </a:r>
          </a:p>
          <a:p>
            <a:pPr marL="647700" lvl="1" indent="-323850" algn="l">
              <a:lnSpc>
                <a:spcPts val="4830"/>
              </a:lnSpc>
              <a:buFont typeface="Arial"/>
              <a:buChar char="•"/>
            </a:pPr>
            <a:r>
              <a:rPr lang="en-US" sz="3000" b="1" u="sng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4" tooltip="https://www.tandfonline.com/doi/full/10.1080/13675567.2020.1803246"/>
              </a:rPr>
              <a:t>https://www.tandfonline.com/doi/full/10.1080/13675567.2020.1803246</a:t>
            </a:r>
          </a:p>
          <a:p>
            <a:pPr marL="647700" lvl="1" indent="-323850" algn="l">
              <a:lnSpc>
                <a:spcPts val="483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Hybrid ML (ARIMAX + Neural Network) mitigates the Bullwhip Effect and yields tangible improvements in supply chain performance and financial metrics.</a:t>
            </a:r>
          </a:p>
          <a:p>
            <a:pPr algn="l">
              <a:lnSpc>
                <a:spcPts val="4830"/>
              </a:lnSpc>
            </a:pPr>
            <a:endParaRPr lang="en-US" sz="3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647700" lvl="1" indent="-323850" algn="l">
              <a:lnSpc>
                <a:spcPts val="483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Inventory management and cost reduction of supply chain processes using AI based time-series forecasting </a:t>
            </a:r>
          </a:p>
          <a:p>
            <a:pPr marL="647700" lvl="1" indent="-323850" algn="l">
              <a:lnSpc>
                <a:spcPts val="4830"/>
              </a:lnSpc>
              <a:buFont typeface="Arial"/>
              <a:buChar char="•"/>
            </a:pPr>
            <a:r>
              <a:rPr lang="en-US" sz="3000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5"/>
              </a:rPr>
              <a:t>https://doi.org/10.1016/j.promfg.2020.01.034</a:t>
            </a:r>
            <a:endParaRPr lang="en-US" sz="3000" b="1" dirty="0">
              <a:solidFill>
                <a:srgbClr val="1F497D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647700" lvl="1" indent="-323850" algn="l">
              <a:lnSpc>
                <a:spcPts val="483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 ANN model uses time-series forecasting to minimize supply/demand mismatch, effectively reducing inventory and shortage costs to increase profit margins. </a:t>
            </a:r>
          </a:p>
          <a:p>
            <a:pPr algn="l">
              <a:lnSpc>
                <a:spcPts val="4830"/>
              </a:lnSpc>
            </a:pPr>
            <a:endParaRPr lang="en-US" sz="3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830"/>
              </a:lnSpc>
            </a:pPr>
            <a:endParaRPr lang="en-US" sz="3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436</Words>
  <Application>Microsoft Office PowerPoint</Application>
  <PresentationFormat>Custom</PresentationFormat>
  <Paragraphs>83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Garamond Bold</vt:lpstr>
      <vt:lpstr>Calibri</vt:lpstr>
      <vt:lpstr>Times New Roman MT</vt:lpstr>
      <vt:lpstr>Times New Roman MT Bold</vt:lpstr>
      <vt:lpstr>Times New Roman Bold</vt:lpstr>
      <vt:lpstr>Arimo Bold</vt:lpstr>
      <vt:lpstr>Times New Roman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</dc:title>
  <cp:lastModifiedBy>Sachith Buddarapu</cp:lastModifiedBy>
  <cp:revision>3</cp:revision>
  <dcterms:created xsi:type="dcterms:W3CDTF">2006-08-16T00:00:00Z</dcterms:created>
  <dcterms:modified xsi:type="dcterms:W3CDTF">2025-10-13T06:57:27Z</dcterms:modified>
  <dc:identifier>DAG0DkyLNtw</dc:identifier>
</cp:coreProperties>
</file>